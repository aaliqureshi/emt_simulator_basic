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561"/>
  </p:normalViewPr>
  <p:slideViewPr>
    <p:cSldViewPr snapToGrid="0">
      <p:cViewPr varScale="1">
        <p:scale>
          <a:sx n="118" d="100"/>
          <a:sy n="118" d="100"/>
        </p:scale>
        <p:origin x="5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EC451-3AFD-6668-F098-91407F36D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7B3639-ED55-CBB0-45D6-AD8BEC2F9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DC400-0EC5-5CFF-B694-D00EAF9BC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0AB64-71D0-6843-BF01-0430AFD7720C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7D9B8-1918-5947-3C3C-462FE3C30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BD66B-AE41-4F0E-823B-6ECD66432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E4543-F8C4-704A-B6E0-47EAADBE4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718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ED2FA-8E52-AB36-C824-853B5F918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41BFB-7739-1EA9-CB02-2284360C0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6952C-D155-4066-217A-F097932EB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0AB64-71D0-6843-BF01-0430AFD7720C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9B305-9206-7DCD-6161-3C949746D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3DAE7-D254-D57D-8706-996D0F7C2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E4543-F8C4-704A-B6E0-47EAADBE4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998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A4E71-09C7-F7E3-39DD-34359DE62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22F64-ECE4-4501-3D16-9E8886955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E864B-B80C-D0A4-88A4-5ACCAAEB7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0AB64-71D0-6843-BF01-0430AFD7720C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3DA54-D43B-FE7B-E732-72DBA2BC4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05290-BF6C-C47E-7DED-6895C7C99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E4543-F8C4-704A-B6E0-47EAADBE4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366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B1FD0-7A41-DC84-0C10-C771B857A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B7807-AFC5-7EAC-42A2-B641F729AC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576756-313F-A7CC-6642-C85ED92F76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DA9056-3EC5-6BE2-ED89-3ABE4C9BF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0AB64-71D0-6843-BF01-0430AFD7720C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5683B9-0750-393F-C16A-D38BE5CE7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15D534-EF54-C51B-19C7-8A358F4A1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E4543-F8C4-704A-B6E0-47EAADBE4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73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A0D42-E9A7-B307-E13D-1BD3A6B60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8D01BF-0995-C944-544C-051C3241D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10B03A-FC7A-948C-17F0-9BA66FD078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97BB19-CBA7-B611-BC5A-2A1C0A10D7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6D7800-508F-052D-65B8-48F98E802B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96419-E29F-DC0F-E278-630FF5E9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0AB64-71D0-6843-BF01-0430AFD7720C}" type="datetimeFigureOut">
              <a:rPr lang="en-US" smtClean="0"/>
              <a:t>8/27/26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48E003-2DE9-918B-14EC-5DB3AE8CD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4F0E88-340A-59D4-0A7B-E18522212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E4543-F8C4-704A-B6E0-47EAADBE4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359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48EEE-DE00-E4CC-D44A-BE0EC8487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6DC4A0-54B2-92B4-341E-A50A5B184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0AB64-71D0-6843-BF01-0430AFD7720C}" type="datetimeFigureOut">
              <a:rPr lang="en-US" smtClean="0"/>
              <a:t>8/27/26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DEB04D-5A34-68C0-D110-FF0F5F8B1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7B1862-78FE-E00D-C371-D4F22EF1E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E4543-F8C4-704A-B6E0-47EAADBE4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280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1965B1-311B-AD9F-E224-6A1D3B02E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0AB64-71D0-6843-BF01-0430AFD7720C}" type="datetimeFigureOut">
              <a:rPr lang="en-US" smtClean="0"/>
              <a:t>8/27/26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85483-2AEF-47AC-9F0E-79B9D1F8B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37B5B-B352-2DBB-8864-CB4813635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E4543-F8C4-704A-B6E0-47EAADBE4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41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A6F69-FF46-7800-8CD0-55E1E91F2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4AD1D-FF6D-EE69-2B3B-1A05CAD6C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442E54-11AD-641E-9FD4-2C7691848F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238B8A-6B63-5F5B-EDF5-42422FBBD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0AB64-71D0-6843-BF01-0430AFD7720C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337D6C-9A88-CD21-F733-3B7D2A4C4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E41199-F0E6-3DD0-271A-45A4120CD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E4543-F8C4-704A-B6E0-47EAADBE4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821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C683B-1F77-A576-13AC-D9E85F11D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1ADD88-22FB-4157-4A79-22B296A2BE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FBBDC1-6CA4-89AC-2A41-360AE6F06B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437E83-7408-2121-A020-7C8107395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0AB64-71D0-6843-BF01-0430AFD7720C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B52550-2A6D-7966-C216-78CBD96F2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3F5C54-6A46-76A3-5E53-9BD91BDEE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E4543-F8C4-704A-B6E0-47EAADBE4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230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8346F-EA24-D272-0BF6-9F98BB595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D9DED4-1DDE-44F2-EA9F-5A6BB6FB1B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7A0BC-8CBB-CA66-D9F7-EBB8DE1D8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0AB64-71D0-6843-BF01-0430AFD7720C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7CD82-12BE-76B3-D58F-F27269B0C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B5A77-929D-72DF-0ECF-AF619FD0F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E4543-F8C4-704A-B6E0-47EAADBE4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340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A1C1FB-E25B-C794-DBFA-3CE75A4F93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4F194D-FA65-D768-7503-172E3A3C82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6D1E5-8C9C-56B6-8449-42E7C3455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0AB64-71D0-6843-BF01-0430AFD7720C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35849-7C23-C259-CA56-883F86AA1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3A78E-7DD9-BF2D-E89C-6EABD9395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E4543-F8C4-704A-B6E0-47EAADBE4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639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4D5D53-64DE-0CA1-1C90-6A8820CC2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2F7C64-61EF-036F-D656-CCC7FA188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AB6D8-F794-0D57-1F23-ADFE7193FC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50AB64-71D0-6843-BF01-0430AFD7720C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5FE69-EFAC-73F3-EBE1-68EBBE500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62CFC-6F26-EB1C-BA18-C6424820A2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5E4543-F8C4-704A-B6E0-47EAADBE4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211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07714-9C25-1125-2E59-1567D973F8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E461A4-FD2E-C862-A812-B3B650006A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139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9C74F-80C6-AA4C-B1FD-06ECB0214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Case39 with flat start (bus 20)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956F9E-6023-DCB2-4FFF-129D7487E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96" y="1535723"/>
            <a:ext cx="11010407" cy="4658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352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02202-DE65-C6B4-DD27-7894A1F04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6E1A2-0485-84E2-FFC8-00A7225E7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Case39 with flat start (bus 16)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A06F6B-66A3-9220-9DC9-ED03907A432F}"/>
              </a:ext>
            </a:extLst>
          </p:cNvPr>
          <p:cNvSpPr txBox="1"/>
          <p:nvPr/>
        </p:nvSpPr>
        <p:spPr>
          <a:xfrm>
            <a:off x="522515" y="1883228"/>
            <a:ext cx="108312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Euclidean distance between the initial condition and the converged solution in the ZIP load model without </a:t>
            </a:r>
          </a:p>
          <a:p>
            <a:r>
              <a:rPr lang="en-US" dirty="0" err="1"/>
              <a:t>Reinit</a:t>
            </a:r>
            <a:r>
              <a:rPr lang="en-US" dirty="0"/>
              <a:t> is 27.17 (NR fails) . This distance then reduces to 14.325 after re-</a:t>
            </a:r>
            <a:r>
              <a:rPr lang="en-US" dirty="0" err="1"/>
              <a:t>init.</a:t>
            </a:r>
            <a:r>
              <a:rPr lang="en-US" dirty="0"/>
              <a:t> When the model conversion is used the distance is 13.53 (NR converges).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819F8A-A0BC-7AF8-9101-390A16D0EED1}"/>
              </a:ext>
            </a:extLst>
          </p:cNvPr>
          <p:cNvSpPr txBox="1"/>
          <p:nvPr/>
        </p:nvSpPr>
        <p:spPr>
          <a:xfrm>
            <a:off x="838200" y="3774444"/>
            <a:ext cx="10831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ZIP model: initial </a:t>
            </a:r>
            <a:r>
              <a:rPr lang="en-US" dirty="0" err="1"/>
              <a:t>cond</a:t>
            </a:r>
            <a:r>
              <a:rPr lang="en-US" dirty="0"/>
              <a:t> = 476107; fault </a:t>
            </a:r>
            <a:r>
              <a:rPr lang="en-US" dirty="0" err="1"/>
              <a:t>cond</a:t>
            </a:r>
            <a:r>
              <a:rPr lang="en-US" dirty="0"/>
              <a:t>=3.7e6</a:t>
            </a:r>
          </a:p>
          <a:p>
            <a:r>
              <a:rPr lang="en-US" dirty="0"/>
              <a:t>I model: initial 476092; fault = 3.77e6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D80300-DA8E-4723-947B-693911E214E1}"/>
              </a:ext>
            </a:extLst>
          </p:cNvPr>
          <p:cNvSpPr txBox="1"/>
          <p:nvPr/>
        </p:nvSpPr>
        <p:spPr>
          <a:xfrm>
            <a:off x="680357" y="4937491"/>
            <a:ext cx="10831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shows that the problem is not the condition number but the Euclidean distance between the solution and the guess</a:t>
            </a:r>
          </a:p>
        </p:txBody>
      </p:sp>
    </p:spTree>
    <p:extLst>
      <p:ext uri="{BB962C8B-B14F-4D97-AF65-F5344CB8AC3E}">
        <p14:creationId xmlns:p14="http://schemas.microsoft.com/office/powerpoint/2010/main" val="3206008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B2D85-755D-3676-966F-9725A7AFD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2D304-43FA-5BFC-59A6-97A086911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527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1448</TotalTime>
  <Words>105</Words>
  <Application>Microsoft Macintosh PowerPoint</Application>
  <PresentationFormat>Widescreen</PresentationFormat>
  <Paragraphs>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Case39 with flat start (bus 20)</vt:lpstr>
      <vt:lpstr>Case39 with flat start (bus 16)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 Ali</dc:creator>
  <cp:lastModifiedBy>Ahmad Ali</cp:lastModifiedBy>
  <cp:revision>3</cp:revision>
  <dcterms:created xsi:type="dcterms:W3CDTF">2026-08-27T19:46:54Z</dcterms:created>
  <dcterms:modified xsi:type="dcterms:W3CDTF">2026-08-28T19:54:56Z</dcterms:modified>
</cp:coreProperties>
</file>